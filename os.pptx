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4" r:id="rId3"/>
    <p:sldId id="257" r:id="rId4"/>
    <p:sldId id="273" r:id="rId5"/>
    <p:sldId id="258" r:id="rId6"/>
    <p:sldId id="259" r:id="rId7"/>
    <p:sldId id="275" r:id="rId8"/>
    <p:sldId id="263" r:id="rId9"/>
    <p:sldId id="264" r:id="rId10"/>
    <p:sldId id="265" r:id="rId11"/>
    <p:sldId id="276" r:id="rId12"/>
    <p:sldId id="261" r:id="rId13"/>
    <p:sldId id="269" r:id="rId14"/>
    <p:sldId id="266" r:id="rId15"/>
    <p:sldId id="268" r:id="rId16"/>
    <p:sldId id="271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033" autoAdjust="0"/>
  </p:normalViewPr>
  <p:slideViewPr>
    <p:cSldViewPr>
      <p:cViewPr varScale="1">
        <p:scale>
          <a:sx n="91" d="100"/>
          <a:sy n="91" d="100"/>
        </p:scale>
        <p:origin x="36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4042" y="475805"/>
            <a:ext cx="714391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3580" y="1528065"/>
            <a:ext cx="5368290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95B1569-148F-22C4-8524-171DADB56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36" y="1905000"/>
            <a:ext cx="10744200" cy="3785652"/>
          </a:xfrm>
        </p:spPr>
        <p:txBody>
          <a:bodyPr/>
          <a:lstStyle/>
          <a:p>
            <a:pPr algn="ctr"/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Design and Implementation of a Computer Training </a:t>
            </a:r>
            <a:r>
              <a:rPr lang="en-IN" sz="4000" dirty="0" err="1"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 Management System</a:t>
            </a:r>
            <a:b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CSA0409-OPERATING SYSTEMS</a:t>
            </a:r>
            <a:b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close-up of a sign&#10;&#10;AI-generated content may be incorrect.">
            <a:extLst>
              <a:ext uri="{FF2B5EF4-FFF2-40B4-BE49-F238E27FC236}">
                <a16:creationId xmlns:a16="http://schemas.microsoft.com/office/drawing/2014/main" id="{7A7D1E55-94A7-C90C-12CD-41F473AD8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12192000" cy="1600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5CFCEC-6A49-3256-B779-EB40DE703625}"/>
              </a:ext>
            </a:extLst>
          </p:cNvPr>
          <p:cNvSpPr txBox="1"/>
          <p:nvPr/>
        </p:nvSpPr>
        <p:spPr>
          <a:xfrm>
            <a:off x="732796" y="4951988"/>
            <a:ext cx="32111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K.Jaya</a:t>
            </a:r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Venkata </a:t>
            </a:r>
            <a:r>
              <a:rPr lang="en-IN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(192525182)</a:t>
            </a:r>
          </a:p>
          <a:p>
            <a:r>
              <a:rPr lang="en-IN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K.Nikhil</a:t>
            </a:r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(192525307)</a:t>
            </a:r>
          </a:p>
          <a:p>
            <a:r>
              <a:rPr lang="en-IN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G.Koushik</a:t>
            </a:r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(192524238)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30826-A8FE-584E-DE95-D95156AC4B5D}"/>
              </a:ext>
            </a:extLst>
          </p:cNvPr>
          <p:cNvSpPr txBox="1"/>
          <p:nvPr/>
        </p:nvSpPr>
        <p:spPr>
          <a:xfrm>
            <a:off x="9067800" y="5029200"/>
            <a:ext cx="1980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 .</a:t>
            </a:r>
            <a:r>
              <a:rPr lang="en-IN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S.Sundar</a:t>
            </a:r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Rajan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275C-4EA5-2DEE-E864-24F325FA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533400"/>
            <a:ext cx="7143915" cy="69596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16A2F-438B-1CF8-88CA-B4DDBE402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710" y="1674945"/>
            <a:ext cx="6816090" cy="677108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F9F2E2C-2951-3E47-F968-5A6B8E64F4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825" y="105239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78D4950-49EA-30D2-CB5B-CC304E7202A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62" y="109810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48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5200" y="600497"/>
            <a:ext cx="6096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4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04800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1100" y="191626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48014F-74D0-7949-5E58-9B878F8B735A}"/>
              </a:ext>
            </a:extLst>
          </p:cNvPr>
          <p:cNvSpPr txBox="1"/>
          <p:nvPr/>
        </p:nvSpPr>
        <p:spPr>
          <a:xfrm>
            <a:off x="609600" y="1660966"/>
            <a:ext cx="8686800" cy="4621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A Computer Training </a:t>
            </a:r>
            <a:r>
              <a:rPr lang="en-IN" dirty="0" err="1">
                <a:latin typeface="Baskerville Old Face" panose="02020602080505020303" pitchFamily="18" charset="0"/>
              </a:rPr>
              <a:t>Center</a:t>
            </a:r>
            <a:r>
              <a:rPr lang="en-IN" dirty="0">
                <a:latin typeface="Baskerville Old Face" panose="02020602080505020303" pitchFamily="18" charset="0"/>
              </a:rPr>
              <a:t> Management System is designed to automate the daily operations of a computer training institute. </a:t>
            </a: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The system helps manage student records, course details, trainer information, fee payments, attendance, and examination details in a centralized database. </a:t>
            </a: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It reduces manual paperwork, improves accuracy, saves time, and provides quick access to information. </a:t>
            </a: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The project uses Operating System concepts such as file management, process management, user authentication, and resource management to efficiently handle multiple users and data simultaneously. </a:t>
            </a: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The system provides a secure and user-friendly environment for administrators, trainers, and students. </a:t>
            </a:r>
          </a:p>
        </p:txBody>
      </p:sp>
      <p:pic>
        <p:nvPicPr>
          <p:cNvPr id="3" name="Picture 2" descr="1 Best Computer Training Institute in Jamia Nagar - Samantus">
            <a:extLst>
              <a:ext uri="{FF2B5EF4-FFF2-40B4-BE49-F238E27FC236}">
                <a16:creationId xmlns:a16="http://schemas.microsoft.com/office/drawing/2014/main" id="{10BADB3E-3FBE-A7D6-BED7-A74A334AA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939772"/>
            <a:ext cx="2632593" cy="19370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FF0000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7ED6-B374-87D3-A2DC-3185730B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0" y="515087"/>
            <a:ext cx="7143915" cy="69596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730AEBF-D6E9-62AA-A2F2-C2915A3CE23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2B6ED34-5C8F-B09B-A24C-E0D834DC3FA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7F43896-B09C-946A-BB96-EEA57123E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55" y="1885301"/>
            <a:ext cx="11017045" cy="377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dirty="0">
                <a:latin typeface="Baskerville Old Face" panose="02020602080505020303" pitchFamily="18" charset="0"/>
              </a:rPr>
              <a:t>The </a:t>
            </a:r>
            <a:r>
              <a:rPr lang="en-IN" b="1" dirty="0">
                <a:latin typeface="Baskerville Old Face" panose="02020602080505020303" pitchFamily="18" charset="0"/>
              </a:rPr>
              <a:t>Computer Training </a:t>
            </a:r>
            <a:r>
              <a:rPr lang="en-IN" b="1" dirty="0" err="1">
                <a:latin typeface="Baskerville Old Face" panose="02020602080505020303" pitchFamily="18" charset="0"/>
              </a:rPr>
              <a:t>Center</a:t>
            </a:r>
            <a:r>
              <a:rPr lang="en-IN" b="1" dirty="0">
                <a:latin typeface="Baskerville Old Face" panose="02020602080505020303" pitchFamily="18" charset="0"/>
              </a:rPr>
              <a:t> Management System</a:t>
            </a:r>
            <a:r>
              <a:rPr lang="en-IN" dirty="0">
                <a:latin typeface="Baskerville Old Face" panose="02020602080505020303" pitchFamily="18" charset="0"/>
              </a:rPr>
              <a:t> is a software application developed to simplify the management of training institutes.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dirty="0">
                <a:latin typeface="Baskerville Old Face" panose="02020602080505020303" pitchFamily="18" charset="0"/>
              </a:rPr>
              <a:t>The system maintains information about students, trainers, courses, batches, attendance, fee payments, and examinations in a digital format.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dirty="0">
                <a:latin typeface="Baskerville Old Face" panose="02020602080505020303" pitchFamily="18" charset="0"/>
              </a:rPr>
              <a:t> It eliminates manual record keeping, minimizes errors, and improves operational efficiency.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dirty="0">
                <a:latin typeface="Baskerville Old Face" panose="02020602080505020303" pitchFamily="18" charset="0"/>
              </a:rPr>
              <a:t>The application provides secure login access for administrators and allows easy retrieval, updating, and storage of information.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dirty="0">
                <a:latin typeface="Baskerville Old Face" panose="02020602080505020303" pitchFamily="18" charset="0"/>
              </a:rPr>
              <a:t>By implementing this system, training </a:t>
            </a:r>
            <a:r>
              <a:rPr lang="en-IN" dirty="0" err="1">
                <a:latin typeface="Baskerville Old Face" panose="02020602080505020303" pitchFamily="18" charset="0"/>
              </a:rPr>
              <a:t>centers</a:t>
            </a:r>
            <a:r>
              <a:rPr lang="en-IN" dirty="0">
                <a:latin typeface="Baskerville Old Face" panose="02020602080505020303" pitchFamily="18" charset="0"/>
              </a:rPr>
              <a:t> can improve productivity, reduce administrative workload, and provide better services to students.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676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381000"/>
            <a:ext cx="6858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lang="en-US" sz="4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4800" spc="-1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19837C-D504-669B-B782-FFD19DB83FBC}"/>
              </a:ext>
            </a:extLst>
          </p:cNvPr>
          <p:cNvSpPr txBox="1"/>
          <p:nvPr/>
        </p:nvSpPr>
        <p:spPr>
          <a:xfrm>
            <a:off x="908831" y="2057400"/>
            <a:ext cx="6466490" cy="2957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To develop a computerized system for managing the daily operations of a computer training </a:t>
            </a:r>
            <a:r>
              <a:rPr lang="en-IN" dirty="0" err="1"/>
              <a:t>center</a:t>
            </a:r>
            <a:r>
              <a:rPr lang="en-IN" dirty="0"/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To automate the student registration and admission process.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To maintain a centralized database for students, faculty, courses, and batches.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To simplify batch allocation and class scheduling.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pic>
        <p:nvPicPr>
          <p:cNvPr id="3" name="Picture 2" descr="Top Application Software Training in Katra Bazar, Bhadohi - Best Computer  Application Courses - Justdial">
            <a:extLst>
              <a:ext uri="{FF2B5EF4-FFF2-40B4-BE49-F238E27FC236}">
                <a16:creationId xmlns:a16="http://schemas.microsoft.com/office/drawing/2014/main" id="{9A0A1C11-C4E4-E46F-7128-283A6329B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133600"/>
            <a:ext cx="2971800" cy="2971800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274209"/>
            <a:ext cx="715603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  <a:endParaRPr sz="4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1D1ED5DA-A878-CF55-E1EA-2379A3A8D0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09997"/>
            <a:ext cx="1135116" cy="956803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F92AB77A-71AB-401D-7744-53B5609182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0" y="23769"/>
            <a:ext cx="1295400" cy="11954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DC2CB4-C0AA-0080-C1DB-2A231B5FF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295400"/>
            <a:ext cx="8305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60E7A-638A-AF3A-2613-822B55135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8147-128A-6E3D-A1F6-A8AE0DE2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747336"/>
            <a:ext cx="7143915" cy="67710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DA042F0-7E6A-BB26-5AA9-35ED6E78AE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825" y="105239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C2C59EA-9836-1044-ABBA-3879650CA59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62" y="109810"/>
            <a:ext cx="1520113" cy="1342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5EDEC2-953D-8BB8-7793-7FA13FE3AC91}"/>
              </a:ext>
            </a:extLst>
          </p:cNvPr>
          <p:cNvSpPr txBox="1"/>
          <p:nvPr/>
        </p:nvSpPr>
        <p:spPr>
          <a:xfrm>
            <a:off x="160439" y="1981200"/>
            <a:ext cx="11871122" cy="3790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Most computer training </a:t>
            </a:r>
            <a:r>
              <a:rPr lang="en-IN" dirty="0" err="1">
                <a:latin typeface="Baskerville Old Face" panose="02020602080505020303" pitchFamily="18" charset="0"/>
              </a:rPr>
              <a:t>centers</a:t>
            </a:r>
            <a:r>
              <a:rPr lang="en-IN" dirty="0">
                <a:latin typeface="Baskerville Old Face" panose="02020602080505020303" pitchFamily="18" charset="0"/>
              </a:rPr>
              <a:t> still rely on </a:t>
            </a:r>
            <a:r>
              <a:rPr lang="en-IN" b="1" dirty="0">
                <a:latin typeface="Baskerville Old Face" panose="02020602080505020303" pitchFamily="18" charset="0"/>
              </a:rPr>
              <a:t>manual registers and paper-based records</a:t>
            </a:r>
            <a:r>
              <a:rPr lang="en-IN" dirty="0">
                <a:latin typeface="Baskerville Old Face" panose="02020602080505020303" pitchFamily="18" charset="0"/>
              </a:rPr>
              <a:t> to manage student information, attendance, fees, and course details. Managing </a:t>
            </a:r>
            <a:r>
              <a:rPr lang="en-IN" b="1" dirty="0">
                <a:latin typeface="Baskerville Old Face" panose="02020602080505020303" pitchFamily="18" charset="0"/>
              </a:rPr>
              <a:t>student admissions, batch allocation, and class schedules</a:t>
            </a:r>
            <a:r>
              <a:rPr lang="en-IN" dirty="0">
                <a:latin typeface="Baskerville Old Face" panose="02020602080505020303" pitchFamily="18" charset="0"/>
              </a:rPr>
              <a:t> manually is time-consuming and often leads to errors.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Training </a:t>
            </a:r>
            <a:r>
              <a:rPr lang="en-IN" dirty="0" err="1">
                <a:latin typeface="Baskerville Old Face" panose="02020602080505020303" pitchFamily="18" charset="0"/>
              </a:rPr>
              <a:t>center</a:t>
            </a:r>
            <a:r>
              <a:rPr lang="en-IN" dirty="0">
                <a:latin typeface="Baskerville Old Face" panose="02020602080505020303" pitchFamily="18" charset="0"/>
              </a:rPr>
              <a:t> owners face difficulties in </a:t>
            </a:r>
            <a:r>
              <a:rPr lang="en-IN" b="1" dirty="0">
                <a:latin typeface="Baskerville Old Face" panose="02020602080505020303" pitchFamily="18" charset="0"/>
              </a:rPr>
              <a:t>tracking student </a:t>
            </a:r>
            <a:r>
              <a:rPr lang="en-IN" b="1" dirty="0" err="1">
                <a:latin typeface="Baskerville Old Face" panose="02020602080505020303" pitchFamily="18" charset="0"/>
              </a:rPr>
              <a:t>enrollment</a:t>
            </a:r>
            <a:r>
              <a:rPr lang="en-IN" b="1" dirty="0">
                <a:latin typeface="Baskerville Old Face" panose="02020602080505020303" pitchFamily="18" charset="0"/>
              </a:rPr>
              <a:t>, attendance, fee payments, and overall </a:t>
            </a:r>
            <a:r>
              <a:rPr lang="en-IN" b="1" dirty="0" err="1">
                <a:latin typeface="Baskerville Old Face" panose="02020602080505020303" pitchFamily="18" charset="0"/>
              </a:rPr>
              <a:t>center</a:t>
            </a:r>
            <a:r>
              <a:rPr lang="en-IN" b="1" dirty="0">
                <a:latin typeface="Baskerville Old Face" panose="02020602080505020303" pitchFamily="18" charset="0"/>
              </a:rPr>
              <a:t> activities</a:t>
            </a:r>
            <a:r>
              <a:rPr lang="en-IN" dirty="0">
                <a:latin typeface="Baskerville Old Face" panose="02020602080505020303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 Faculty members do not have a centralized system to </a:t>
            </a:r>
            <a:r>
              <a:rPr lang="en-IN" b="1" dirty="0">
                <a:latin typeface="Baskerville Old Face" panose="02020602080505020303" pitchFamily="18" charset="0"/>
              </a:rPr>
              <a:t>plan daily lessons, record completed topics, assign homework, and monitor student progress</a:t>
            </a:r>
            <a:r>
              <a:rPr lang="en-IN" dirty="0">
                <a:latin typeface="Baskerville Old Face" panose="02020602080505020303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Students cannot easily </a:t>
            </a:r>
            <a:r>
              <a:rPr lang="en-IN" b="1" dirty="0">
                <a:latin typeface="Baskerville Old Face" panose="02020602080505020303" pitchFamily="18" charset="0"/>
              </a:rPr>
              <a:t>view their attendance, completed topics, assignments, practice hours, and course progress</a:t>
            </a:r>
            <a:r>
              <a:rPr lang="en-IN" dirty="0">
                <a:latin typeface="Baskerville Old Face" panose="02020602080505020303" pitchFamily="18" charset="0"/>
              </a:rPr>
              <a:t> in one place.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Manual record management increases the chances of </a:t>
            </a:r>
            <a:r>
              <a:rPr lang="en-IN" b="1" dirty="0">
                <a:latin typeface="Baskerville Old Face" panose="02020602080505020303" pitchFamily="18" charset="0"/>
              </a:rPr>
              <a:t>data duplication, data loss, and inaccurate information</a:t>
            </a:r>
            <a:r>
              <a:rPr lang="en-IN" dirty="0">
                <a:latin typeface="Baskerville Old Face" panose="02020602080505020303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 Communication between the </a:t>
            </a:r>
            <a:r>
              <a:rPr lang="en-IN" b="1" dirty="0">
                <a:latin typeface="Baskerville Old Face" panose="02020602080505020303" pitchFamily="18" charset="0"/>
              </a:rPr>
              <a:t>administrator, faculty, and students</a:t>
            </a:r>
            <a:r>
              <a:rPr lang="en-IN" dirty="0">
                <a:latin typeface="Baskerville Old Face" panose="02020602080505020303" pitchFamily="18" charset="0"/>
              </a:rPr>
              <a:t> is often inefficient due to the lack of an integrated system.</a:t>
            </a:r>
          </a:p>
        </p:txBody>
      </p:sp>
    </p:spTree>
    <p:extLst>
      <p:ext uri="{BB962C8B-B14F-4D97-AF65-F5344CB8AC3E}">
        <p14:creationId xmlns:p14="http://schemas.microsoft.com/office/powerpoint/2010/main" val="395731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B00A-24D3-C068-96FB-D1A660E80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81000"/>
            <a:ext cx="3581400" cy="135421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3240A8B7-D5D2-34B6-13F5-0B97CE4726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917" y="140293"/>
            <a:ext cx="1135116" cy="1342883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2313B98F-C4FA-1133-8484-1FCE905C1B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3484" y="107436"/>
            <a:ext cx="1520113" cy="1342883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65B07532-A0C2-AD50-1419-58433C6BF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26539" y="1283434"/>
            <a:ext cx="9067800" cy="5452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800" b="1" dirty="0">
              <a:latin typeface="Baskerville Old Face" panose="020206020805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Baskerville Old Face" panose="02020602080505020303" pitchFamily="18" charset="0"/>
              </a:rPr>
              <a:t>        Responsibilities:</a:t>
            </a:r>
            <a:endParaRPr lang="en-IN" sz="1800" dirty="0">
              <a:latin typeface="Baskerville Old Face" panose="02020602080505020303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Secure admin login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Add, update, and delete student records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Add and manage trainers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Create and manage courses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Create training batches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Manage fee details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View attendance reports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Schedule examinations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Generate reports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Manage the overall system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3605E-105B-6F98-3049-FC67BE96F895}"/>
              </a:ext>
            </a:extLst>
          </p:cNvPr>
          <p:cNvSpPr txBox="1"/>
          <p:nvPr/>
        </p:nvSpPr>
        <p:spPr>
          <a:xfrm>
            <a:off x="4724400" y="1147513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 Rounded MT Bold" panose="020F0704030504030204" pitchFamily="34" charset="0"/>
              </a:rPr>
              <a:t>Admin Module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3738D6-F789-DADB-15D2-451B92B8D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043" y="2580803"/>
            <a:ext cx="4273140" cy="28487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00B05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7834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7A36-CC9F-74C3-3CAC-9A16870DB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381000"/>
            <a:ext cx="2886158" cy="69596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C2960-98C2-8919-0F0E-17ABD3CB2D11}"/>
              </a:ext>
            </a:extLst>
          </p:cNvPr>
          <p:cNvSpPr txBox="1"/>
          <p:nvPr/>
        </p:nvSpPr>
        <p:spPr>
          <a:xfrm>
            <a:off x="4234343" y="1083951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Student Module</a:t>
            </a:r>
          </a:p>
          <a:p>
            <a:endParaRPr lang="en-IN" sz="2400" b="1" dirty="0"/>
          </a:p>
          <a:p>
            <a:endParaRPr lang="en-IN" sz="2400" b="1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1BCE459F-A780-AEAC-BB31-DBF15EF545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6B3BEA0E-B8C1-1E5D-91FB-CB3BDBCA3AE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139F6D7-BE3D-525C-B63A-AEC4A88F8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52600" y="1291700"/>
            <a:ext cx="7391400" cy="5037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Baskerville Old Face" panose="02020602080505020303" pitchFamily="18" charset="0"/>
              </a:rPr>
              <a:t>        Responsibilities:</a:t>
            </a:r>
            <a:endParaRPr lang="en-IN" sz="1800" dirty="0">
              <a:latin typeface="Baskerville Old Face" panose="02020602080505020303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Student login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View personal profile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Register for courses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View batch details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Check attendance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View fee payment status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View examination schedule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Check results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Download certificates (if available)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Update basic profile information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</p:txBody>
      </p:sp>
      <p:pic>
        <p:nvPicPr>
          <p:cNvPr id="3" name="Picture 2" descr="Computer training Images - Free Download on Magnific (formerly Freepik)">
            <a:extLst>
              <a:ext uri="{FF2B5EF4-FFF2-40B4-BE49-F238E27FC236}">
                <a16:creationId xmlns:a16="http://schemas.microsoft.com/office/drawing/2014/main" id="{E80F1C46-3603-6665-A591-647A06524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2000162"/>
            <a:ext cx="4289411" cy="2857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5">
                <a:lumMod val="75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41968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EC24-F175-C110-7F68-837CAF030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930" y="433458"/>
            <a:ext cx="3643669" cy="135421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4375B-FE38-9095-FBD7-5A28761A382E}"/>
              </a:ext>
            </a:extLst>
          </p:cNvPr>
          <p:cNvSpPr txBox="1"/>
          <p:nvPr/>
        </p:nvSpPr>
        <p:spPr>
          <a:xfrm>
            <a:off x="4200736" y="109154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Faculty Module 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82ED018C-29B6-2A16-8AC0-E5E15AEB90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09997"/>
            <a:ext cx="1135116" cy="1342883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79F56CF2-630E-6351-26E6-6286104024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4600" y="191626"/>
            <a:ext cx="1520113" cy="134288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DACDCCF-1022-9A93-0842-360E02C31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8400" y="1579349"/>
            <a:ext cx="3930884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      Responsibilities:</a:t>
            </a:r>
            <a:endParaRPr lang="en-IN" sz="18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Faculty login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View assigned courses and batches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Mark student attendance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Upload study materials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Update class schedules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Conduct online/offline assessments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Enter student marks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View student progress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Send announcements to students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30,000+ Computer Training Pictures | Download Free Images on Unsplash">
            <a:extLst>
              <a:ext uri="{FF2B5EF4-FFF2-40B4-BE49-F238E27FC236}">
                <a16:creationId xmlns:a16="http://schemas.microsoft.com/office/drawing/2014/main" id="{1AA85903-B570-6A9C-8C60-7B74BDAD7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777" y="2445757"/>
            <a:ext cx="4089685" cy="27278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8853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EC94B4-D57D-EB9B-6053-74822639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8ECFE3AE-98DB-2005-89E8-4A692C1A90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2198CD0-65BE-BC89-4523-FDA7E310A7E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8025A2-841D-D2A9-6D1C-552461493DF3}"/>
              </a:ext>
            </a:extLst>
          </p:cNvPr>
          <p:cNvSpPr txBox="1"/>
          <p:nvPr/>
        </p:nvSpPr>
        <p:spPr>
          <a:xfrm>
            <a:off x="1828800" y="2514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6D4B1-BCFF-9E7B-B87D-7BC3C0E0D781}"/>
              </a:ext>
            </a:extLst>
          </p:cNvPr>
          <p:cNvSpPr txBox="1"/>
          <p:nvPr/>
        </p:nvSpPr>
        <p:spPr>
          <a:xfrm>
            <a:off x="1997452" y="762000"/>
            <a:ext cx="7568051" cy="2867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Arial Black" panose="020B0A04020102020204" pitchFamily="34" charset="0"/>
              </a:rPr>
              <a:t>Tools Used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Baskerville Old Face" panose="02020602080505020303" pitchFamily="18" charset="0"/>
              </a:rPr>
              <a:t>Programming Language:</a:t>
            </a:r>
            <a:r>
              <a:rPr lang="en-IN" dirty="0">
                <a:latin typeface="Baskerville Old Face" panose="02020602080505020303" pitchFamily="18" charset="0"/>
              </a:rPr>
              <a:t> Java / Python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Baskerville Old Face" panose="02020602080505020303" pitchFamily="18" charset="0"/>
              </a:rPr>
              <a:t>Frontend:</a:t>
            </a:r>
            <a:r>
              <a:rPr lang="en-IN" dirty="0">
                <a:latin typeface="Baskerville Old Face" panose="02020602080505020303" pitchFamily="18" charset="0"/>
              </a:rPr>
              <a:t> HTML, CSS, JavaScript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Baskerville Old Face" panose="02020602080505020303" pitchFamily="18" charset="0"/>
              </a:rPr>
              <a:t>Backend:</a:t>
            </a:r>
            <a:r>
              <a:rPr lang="en-IN" dirty="0">
                <a:latin typeface="Baskerville Old Face" panose="02020602080505020303" pitchFamily="18" charset="0"/>
              </a:rPr>
              <a:t> Java (JSP/Servlets) or Python (Flask/Django)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Baskerville Old Face" panose="02020602080505020303" pitchFamily="18" charset="0"/>
              </a:rPr>
              <a:t>Database:</a:t>
            </a:r>
            <a:r>
              <a:rPr lang="en-IN" dirty="0">
                <a:latin typeface="Baskerville Old Face" panose="02020602080505020303" pitchFamily="18" charset="0"/>
              </a:rPr>
              <a:t> MySQL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Baskerville Old Face" panose="02020602080505020303" pitchFamily="18" charset="0"/>
              </a:rPr>
              <a:t>Development Environment:</a:t>
            </a:r>
            <a:r>
              <a:rPr lang="en-IN" dirty="0">
                <a:latin typeface="Baskerville Old Face" panose="02020602080505020303" pitchFamily="18" charset="0"/>
              </a:rPr>
              <a:t> Visual Studio Code / Eclipse / IntelliJ 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5EBB5C-E8E1-C301-27A9-603D79672AA7}"/>
              </a:ext>
            </a:extLst>
          </p:cNvPr>
          <p:cNvSpPr txBox="1"/>
          <p:nvPr/>
        </p:nvSpPr>
        <p:spPr>
          <a:xfrm>
            <a:off x="2013531" y="3665932"/>
            <a:ext cx="8366448" cy="277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Arial Black" panose="020B0A04020102020204" pitchFamily="34" charset="0"/>
              </a:rPr>
              <a:t>Techniques Used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Baskerville Old Face" panose="02020602080505020303" pitchFamily="18" charset="0"/>
              </a:rPr>
              <a:t>User Authentication</a:t>
            </a:r>
            <a:r>
              <a:rPr lang="en-IN" dirty="0">
                <a:latin typeface="Baskerville Old Face" panose="02020602080505020303" pitchFamily="18" charset="0"/>
              </a:rPr>
              <a:t> – Secure login for Admin, Faculty, and Students.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Baskerville Old Face" panose="02020602080505020303" pitchFamily="18" charset="0"/>
              </a:rPr>
              <a:t>Database Management</a:t>
            </a:r>
            <a:r>
              <a:rPr lang="en-IN" dirty="0">
                <a:latin typeface="Baskerville Old Face" panose="02020602080505020303" pitchFamily="18" charset="0"/>
              </a:rPr>
              <a:t> – Store and manage student, faculty, batch, and course information.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Baskerville Old Face" panose="02020602080505020303" pitchFamily="18" charset="0"/>
              </a:rPr>
              <a:t>Role-Based Access Control (RBAC)</a:t>
            </a:r>
            <a:r>
              <a:rPr lang="en-IN" dirty="0">
                <a:latin typeface="Baskerville Old Face" panose="02020602080505020303" pitchFamily="18" charset="0"/>
              </a:rPr>
              <a:t> – Different access permissions for Admin, Faculty, and Students.</a:t>
            </a:r>
          </a:p>
        </p:txBody>
      </p:sp>
    </p:spTree>
    <p:extLst>
      <p:ext uri="{BB962C8B-B14F-4D97-AF65-F5344CB8AC3E}">
        <p14:creationId xmlns:p14="http://schemas.microsoft.com/office/powerpoint/2010/main" val="4079245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307596"/>
            <a:ext cx="86868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100"/>
              </a:spcBef>
            </a:pPr>
            <a:r>
              <a:rPr lang="en-IN" sz="4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endParaRPr sz="4800" spc="-1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FA7F96-E594-D58D-79FC-730F15D0C020}"/>
              </a:ext>
            </a:extLst>
          </p:cNvPr>
          <p:cNvSpPr txBox="1"/>
          <p:nvPr/>
        </p:nvSpPr>
        <p:spPr>
          <a:xfrm>
            <a:off x="1828800" y="2514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6F8C8B-2C60-94AA-C90B-8FB893845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534509"/>
            <a:ext cx="6612265" cy="44081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239B-6F5D-BFFE-E591-0129EDF59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40" y="385663"/>
            <a:ext cx="4419600" cy="8335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75FB8F41-2FF3-FB19-2F38-9ADDA6FBA1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61247"/>
            <a:ext cx="1135116" cy="1342883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D66B2242-89B7-8E4C-5E5E-C25E4E27BC2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0800" y="61246"/>
            <a:ext cx="1520113" cy="134288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A346A49-D2A9-2DA3-C4C3-7B17DAD877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69368"/>
            <a:ext cx="9144000" cy="5125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000" dirty="0">
                <a:latin typeface="Baskerville Old Face" panose="02020602080505020303" pitchFamily="18" charset="0"/>
              </a:rPr>
              <a:t>Develop a </a:t>
            </a:r>
            <a:r>
              <a:rPr lang="en-IN" sz="2000" b="1" dirty="0">
                <a:latin typeface="Baskerville Old Face" panose="02020602080505020303" pitchFamily="18" charset="0"/>
              </a:rPr>
              <a:t>mobile application</a:t>
            </a:r>
            <a:r>
              <a:rPr lang="en-IN" sz="2000" dirty="0">
                <a:latin typeface="Baskerville Old Face" panose="02020602080505020303" pitchFamily="18" charset="0"/>
              </a:rPr>
              <a:t> for Android and iOS to access the system anytime.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000" dirty="0">
                <a:latin typeface="Baskerville Old Face" panose="02020602080505020303" pitchFamily="18" charset="0"/>
              </a:rPr>
              <a:t>Integrate </a:t>
            </a:r>
            <a:r>
              <a:rPr lang="en-IN" sz="2000" b="1" dirty="0">
                <a:latin typeface="Baskerville Old Face" panose="02020602080505020303" pitchFamily="18" charset="0"/>
              </a:rPr>
              <a:t>online course registration</a:t>
            </a:r>
            <a:r>
              <a:rPr lang="en-IN" sz="2000" dirty="0">
                <a:latin typeface="Baskerville Old Face" panose="02020602080505020303" pitchFamily="18" charset="0"/>
              </a:rPr>
              <a:t> and admission management.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000" dirty="0">
                <a:latin typeface="Baskerville Old Face" panose="02020602080505020303" pitchFamily="18" charset="0"/>
              </a:rPr>
              <a:t> Add </a:t>
            </a:r>
            <a:r>
              <a:rPr lang="en-IN" sz="2000" b="1" dirty="0">
                <a:latin typeface="Baskerville Old Face" panose="02020602080505020303" pitchFamily="18" charset="0"/>
              </a:rPr>
              <a:t>online fee payment</a:t>
            </a:r>
            <a:r>
              <a:rPr lang="en-IN" sz="2000" dirty="0">
                <a:latin typeface="Baskerville Old Face" panose="02020602080505020303" pitchFamily="18" charset="0"/>
              </a:rPr>
              <a:t> through UPI, credit/debit cards, and net banking.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000" dirty="0">
                <a:latin typeface="Baskerville Old Face" panose="02020602080505020303" pitchFamily="18" charset="0"/>
              </a:rPr>
              <a:t>Implement </a:t>
            </a:r>
            <a:r>
              <a:rPr lang="en-IN" sz="2000" b="1" dirty="0">
                <a:latin typeface="Baskerville Old Face" panose="02020602080505020303" pitchFamily="18" charset="0"/>
              </a:rPr>
              <a:t>biometric or facial recognition attendance</a:t>
            </a:r>
            <a:r>
              <a:rPr lang="en-IN" sz="2000" dirty="0">
                <a:latin typeface="Baskerville Old Face" panose="02020602080505020303" pitchFamily="18" charset="0"/>
              </a:rPr>
              <a:t> for accurate attendance tracking. Send </a:t>
            </a:r>
            <a:r>
              <a:rPr lang="en-IN" sz="2000" b="1" dirty="0">
                <a:latin typeface="Baskerville Old Face" panose="02020602080505020303" pitchFamily="18" charset="0"/>
              </a:rPr>
              <a:t>SMS and email notifications</a:t>
            </a:r>
            <a:r>
              <a:rPr lang="en-IN" sz="2000" dirty="0">
                <a:latin typeface="Baskerville Old Face" panose="02020602080505020303" pitchFamily="18" charset="0"/>
              </a:rPr>
              <a:t> for attendance, fee reminders, and examination updates.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000" dirty="0">
                <a:latin typeface="Baskerville Old Face" panose="02020602080505020303" pitchFamily="18" charset="0"/>
              </a:rPr>
              <a:t>Introduce an </a:t>
            </a:r>
            <a:r>
              <a:rPr lang="en-IN" sz="2000" b="1" dirty="0">
                <a:latin typeface="Baskerville Old Face" panose="02020602080505020303" pitchFamily="18" charset="0"/>
              </a:rPr>
              <a:t>AI-based student performance analysis</a:t>
            </a:r>
            <a:r>
              <a:rPr lang="en-IN" sz="2000" dirty="0">
                <a:latin typeface="Baskerville Old Face" panose="02020602080505020303" pitchFamily="18" charset="0"/>
              </a:rPr>
              <a:t> system to identify learning progress. Add </a:t>
            </a:r>
            <a:r>
              <a:rPr lang="en-IN" sz="2000" b="1" dirty="0">
                <a:latin typeface="Baskerville Old Face" panose="02020602080505020303" pitchFamily="18" charset="0"/>
              </a:rPr>
              <a:t>online examination and certification</a:t>
            </a:r>
            <a:r>
              <a:rPr lang="en-IN" sz="2000" dirty="0">
                <a:latin typeface="Baskerville Old Face" panose="02020602080505020303" pitchFamily="18" charset="0"/>
              </a:rPr>
              <a:t> features.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000" dirty="0">
                <a:latin typeface="Baskerville Old Face" panose="02020602080505020303" pitchFamily="18" charset="0"/>
              </a:rPr>
              <a:t> Store data on the </a:t>
            </a:r>
            <a:r>
              <a:rPr lang="en-IN" sz="2000" b="1" dirty="0">
                <a:latin typeface="Baskerville Old Face" panose="02020602080505020303" pitchFamily="18" charset="0"/>
              </a:rPr>
              <a:t>cloud</a:t>
            </a:r>
            <a:r>
              <a:rPr lang="en-IN" sz="2000" dirty="0">
                <a:latin typeface="Baskerville Old Face" panose="02020602080505020303" pitchFamily="18" charset="0"/>
              </a:rPr>
              <a:t> for secure backup and remote accessibility. Include </a:t>
            </a:r>
            <a:r>
              <a:rPr lang="en-IN" sz="2000" b="1" dirty="0">
                <a:latin typeface="Baskerville Old Face" panose="02020602080505020303" pitchFamily="18" charset="0"/>
              </a:rPr>
              <a:t>role-based access control</a:t>
            </a:r>
            <a:r>
              <a:rPr lang="en-IN" sz="2000" dirty="0">
                <a:latin typeface="Baskerville Old Face" panose="02020602080505020303" pitchFamily="18" charset="0"/>
              </a:rPr>
              <a:t> with enhanced security and encryption.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01826F-5A8E-0BAD-7985-38E97945C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712250"/>
            <a:ext cx="2743200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F0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20448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FFAA4-E1CC-CA14-D535-F40E7D77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532725"/>
            <a:ext cx="4191000" cy="135421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804C650-79AD-7CEE-D179-0F8CF6C61C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09997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1F1335A-6515-06FB-3CF2-0DE00F5FC02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4600" y="191626"/>
            <a:ext cx="1520113" cy="134288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A7B7B6C-26B1-B119-67BB-0FCA46156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9544" y="1752600"/>
            <a:ext cx="11017327" cy="4206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The </a:t>
            </a:r>
            <a:r>
              <a:rPr lang="en-IN" sz="1800" b="1" dirty="0">
                <a:latin typeface="Baskerville Old Face" panose="02020602080505020303" pitchFamily="18" charset="0"/>
              </a:rPr>
              <a:t>Computer Training </a:t>
            </a:r>
            <a:r>
              <a:rPr lang="en-IN" sz="1800" b="1" dirty="0" err="1">
                <a:latin typeface="Baskerville Old Face" panose="02020602080505020303" pitchFamily="18" charset="0"/>
              </a:rPr>
              <a:t>Center</a:t>
            </a:r>
            <a:r>
              <a:rPr lang="en-IN" sz="1800" b="1" dirty="0">
                <a:latin typeface="Baskerville Old Face" panose="02020602080505020303" pitchFamily="18" charset="0"/>
              </a:rPr>
              <a:t> Management System</a:t>
            </a:r>
            <a:r>
              <a:rPr lang="en-IN" sz="1800" dirty="0">
                <a:latin typeface="Baskerville Old Face" panose="02020602080505020303" pitchFamily="18" charset="0"/>
              </a:rPr>
              <a:t> successfully automates the day-to-day operations of a computer training institute.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It simplifies the management of students, trainers, courses, attendance, fees, and examination records.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The system reduces manual paperwork, minimizes human errors, and improves the accuracy of data management.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It provides secure access to users through authentication and maintains records in a centralized database.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The project demonstrates how software applications and Operating System concepts can be used to improve the efficiency and reliability of training </a:t>
            </a:r>
            <a:r>
              <a:rPr lang="en-IN" sz="1800" dirty="0" err="1">
                <a:latin typeface="Baskerville Old Face" panose="02020602080505020303" pitchFamily="18" charset="0"/>
              </a:rPr>
              <a:t>center</a:t>
            </a:r>
            <a:r>
              <a:rPr lang="en-IN" sz="1800" dirty="0">
                <a:latin typeface="Baskerville Old Face" panose="02020602080505020303" pitchFamily="18" charset="0"/>
              </a:rPr>
              <a:t> management.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Overall, the system saves time, increases productivity, and enhances the overall learning and administrative experience.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248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82AD4-A706-8D1E-1D81-CBDC758E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57200"/>
            <a:ext cx="4648200" cy="135421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FDAFE-BDF8-4B5B-F577-4DE38E575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11049000" cy="4395627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Baskerville Old Face" panose="02020602080505020303" pitchFamily="18" charset="0"/>
              </a:rPr>
              <a:t>H. Huang and B. Li, "Design and Implementation of Student Management System of Integrated Programmable Device Programming System," </a:t>
            </a:r>
            <a:r>
              <a:rPr lang="en-IN" sz="1600" i="1" dirty="0">
                <a:latin typeface="Baskerville Old Face" panose="02020602080505020303" pitchFamily="18" charset="0"/>
              </a:rPr>
              <a:t>Scientific Reports</a:t>
            </a:r>
            <a:r>
              <a:rPr lang="en-IN" sz="1600" dirty="0">
                <a:latin typeface="Baskerville Old Face" panose="02020602080505020303" pitchFamily="18" charset="0"/>
              </a:rPr>
              <a:t>, vol. 14, Art. no. 11873, May 2024.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Baskerville Old Face" panose="02020602080505020303" pitchFamily="18" charset="0"/>
              </a:rPr>
              <a:t>F. </a:t>
            </a:r>
            <a:r>
              <a:rPr lang="en-IN" sz="1600" dirty="0" err="1">
                <a:latin typeface="Baskerville Old Face" panose="02020602080505020303" pitchFamily="18" charset="0"/>
              </a:rPr>
              <a:t>Shwedeh</a:t>
            </a:r>
            <a:r>
              <a:rPr lang="en-IN" sz="1600" dirty="0">
                <a:latin typeface="Baskerville Old Face" panose="02020602080505020303" pitchFamily="18" charset="0"/>
              </a:rPr>
              <a:t> and H. M. Alzoubi, "Applying Artificial Intelligence in Database Management Systems to Mitigate the Difficulties Encountered in Training Institutions' Systems," in </a:t>
            </a:r>
            <a:r>
              <a:rPr lang="en-IN" sz="1600" i="1" dirty="0">
                <a:latin typeface="Baskerville Old Face" panose="02020602080505020303" pitchFamily="18" charset="0"/>
              </a:rPr>
              <a:t>Innovative Dynamics in Management and Engineering (IDME)</a:t>
            </a:r>
            <a:r>
              <a:rPr lang="en-IN" sz="1600" dirty="0">
                <a:latin typeface="Baskerville Old Face" panose="02020602080505020303" pitchFamily="18" charset="0"/>
              </a:rPr>
              <a:t>. Cham, Switzerland: Springer Nature, 2025.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Baskerville Old Face" panose="02020602080505020303" pitchFamily="18" charset="0"/>
              </a:rPr>
              <a:t>X. Xu </a:t>
            </a:r>
            <a:r>
              <a:rPr lang="en-IN" sz="1600" i="1" dirty="0">
                <a:latin typeface="Baskerville Old Face" panose="02020602080505020303" pitchFamily="18" charset="0"/>
              </a:rPr>
              <a:t>et al</a:t>
            </a:r>
            <a:r>
              <a:rPr lang="en-IN" sz="1600" dirty="0">
                <a:latin typeface="Baskerville Old Face" panose="02020602080505020303" pitchFamily="18" charset="0"/>
              </a:rPr>
              <a:t>., "Research on Education Management System Based on Machine Learning and Multidimensional Data </a:t>
            </a:r>
            <a:r>
              <a:rPr lang="en-IN" sz="1600" dirty="0" err="1">
                <a:latin typeface="Baskerville Old Face" panose="02020602080505020303" pitchFamily="18" charset="0"/>
              </a:rPr>
              <a:t>Modeling</a:t>
            </a:r>
            <a:r>
              <a:rPr lang="en-IN" sz="1600" dirty="0">
                <a:latin typeface="Baskerville Old Face" panose="02020602080505020303" pitchFamily="18" charset="0"/>
              </a:rPr>
              <a:t>," </a:t>
            </a:r>
            <a:r>
              <a:rPr lang="en-IN" sz="1600" i="1" dirty="0">
                <a:latin typeface="Baskerville Old Face" panose="02020602080505020303" pitchFamily="18" charset="0"/>
              </a:rPr>
              <a:t>Applied Mathematics and Nonlinear Sciences</a:t>
            </a:r>
            <a:r>
              <a:rPr lang="en-IN" sz="1600" dirty="0">
                <a:latin typeface="Baskerville Old Face" panose="02020602080505020303" pitchFamily="18" charset="0"/>
              </a:rPr>
              <a:t>, 2023.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Baskerville Old Face" panose="02020602080505020303" pitchFamily="18" charset="0"/>
              </a:rPr>
              <a:t>S. Kumar, S. Mangal, and A. Singh, "Supervision of College Management Using Database Management System," </a:t>
            </a:r>
            <a:r>
              <a:rPr lang="en-IN" sz="1600" i="1" dirty="0">
                <a:latin typeface="Baskerville Old Face" panose="02020602080505020303" pitchFamily="18" charset="0"/>
              </a:rPr>
              <a:t>Journal of Advances in Database Management Systems</a:t>
            </a:r>
            <a:r>
              <a:rPr lang="en-IN" sz="1600" dirty="0">
                <a:latin typeface="Baskerville Old Face" panose="02020602080505020303" pitchFamily="18" charset="0"/>
              </a:rPr>
              <a:t>, vol. 11, no. 2, 2024.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Baskerville Old Face" panose="02020602080505020303" pitchFamily="18" charset="0"/>
              </a:rPr>
              <a:t> K. Shelke, Y. Khan, and A. S. Kapse, "Student Management System: A Web-Based Solution for Academic Administration," </a:t>
            </a:r>
            <a:r>
              <a:rPr lang="en-IN" sz="1600" i="1" dirty="0">
                <a:latin typeface="Baskerville Old Face" panose="02020602080505020303" pitchFamily="18" charset="0"/>
              </a:rPr>
              <a:t>International Journal of Scientific Research in Science and Technology</a:t>
            </a:r>
            <a:r>
              <a:rPr lang="en-IN" sz="1600" dirty="0">
                <a:latin typeface="Baskerville Old Face" panose="02020602080505020303" pitchFamily="18" charset="0"/>
              </a:rPr>
              <a:t>, vol. 12, no. 3, pp. 50–54, 2025. </a:t>
            </a:r>
            <a:endParaRPr lang="en-IN" sz="1600" dirty="0"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600" dirty="0"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2A31FE5-2856-46A8-A5D6-4AE9B74CA8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0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F31E580-6004-B357-3091-4C0B791CB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77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306F0-CBDC-6935-E303-F12C0A6CD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68580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DBF70-5DEC-D878-9806-561E5C16ED83}"/>
              </a:ext>
            </a:extLst>
          </p:cNvPr>
          <p:cNvSpPr txBox="1"/>
          <p:nvPr/>
        </p:nvSpPr>
        <p:spPr>
          <a:xfrm>
            <a:off x="3094139" y="2921168"/>
            <a:ext cx="5638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Bell MT" panose="02020503060305020303" pitchFamily="18" charset="0"/>
              </a:rPr>
              <a:t> THANK YOU</a:t>
            </a:r>
          </a:p>
        </p:txBody>
      </p:sp>
    </p:spTree>
    <p:extLst>
      <p:ext uri="{BB962C8B-B14F-4D97-AF65-F5344CB8AC3E}">
        <p14:creationId xmlns:p14="http://schemas.microsoft.com/office/powerpoint/2010/main" val="3390109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</TotalTime>
  <Words>1134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Arial Rounded MT Bold</vt:lpstr>
      <vt:lpstr>Baskerville Old Face</vt:lpstr>
      <vt:lpstr>Bell MT</vt:lpstr>
      <vt:lpstr>Calibri</vt:lpstr>
      <vt:lpstr>Times New Roman</vt:lpstr>
      <vt:lpstr>Wingdings</vt:lpstr>
      <vt:lpstr>Office Theme</vt:lpstr>
      <vt:lpstr>Design and Implementation of a Computer Training Center Management System  CSA0409-OPERATING SYSTEMS     </vt:lpstr>
      <vt:lpstr>CONTENTS</vt:lpstr>
      <vt:lpstr>INTRODUCTION</vt:lpstr>
      <vt:lpstr>ABSTRACT</vt:lpstr>
      <vt:lpstr>OBJECTIVES</vt:lpstr>
      <vt:lpstr>LITERATURE REVIEW </vt:lpstr>
      <vt:lpstr>PROBLEM STATEMENT</vt:lpstr>
      <vt:lpstr>MODULE-1</vt:lpstr>
      <vt:lpstr>MODULE-2</vt:lpstr>
      <vt:lpstr>MODULE-3</vt:lpstr>
      <vt:lpstr>PowerPoint Presentation</vt:lpstr>
      <vt:lpstr>SYSTEM ARCHITECTURE </vt:lpstr>
      <vt:lpstr>FUTURE SCOPE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Capstone_Project_Title (1).pptx</dc:title>
  <dc:creator>MANOJ KUMAR</dc:creator>
  <cp:lastModifiedBy>jayavenkatasai224@outlook.com</cp:lastModifiedBy>
  <cp:revision>32</cp:revision>
  <dcterms:created xsi:type="dcterms:W3CDTF">2026-02-03T16:17:38Z</dcterms:created>
  <dcterms:modified xsi:type="dcterms:W3CDTF">2026-07-23T05:08:49Z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2026-02-03T00:00:00Z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2026-02-03T00:00:00Z</vt:filetime>
  </property>
</Properties>
</file>